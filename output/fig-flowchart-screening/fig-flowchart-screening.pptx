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248478"/>
            <a:ext cx="9144000" cy="6361043"/>
            <a:chOff x="0" y="248478"/>
            <a:chExt cx="9144000" cy="6361043"/>
          </a:xfrm>
        </p:grpSpPr>
        <p:sp>
          <p:nvSpPr>
            <p:cNvPr id="3" name="rc3"/>
            <p:cNvSpPr/>
            <p:nvPr/>
          </p:nvSpPr>
          <p:spPr>
            <a:xfrm>
              <a:off x="0" y="248478"/>
              <a:ext cx="9144000" cy="63610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1651616" y="253403"/>
              <a:ext cx="4011967" cy="1260446"/>
            </a:xfrm>
            <a:custGeom>
              <a:avLst/>
              <a:pathLst>
                <a:path w="4011967" h="1260446">
                  <a:moveTo>
                    <a:pt x="63262" y="1260446"/>
                  </a:moveTo>
                  <a:lnTo>
                    <a:pt x="3948704" y="1260446"/>
                  </a:lnTo>
                  <a:lnTo>
                    <a:pt x="3946157" y="1260395"/>
                  </a:lnTo>
                  <a:lnTo>
                    <a:pt x="3956330" y="1259985"/>
                  </a:lnTo>
                  <a:lnTo>
                    <a:pt x="3966305" y="1257948"/>
                  </a:lnTo>
                  <a:lnTo>
                    <a:pt x="3975824" y="1254338"/>
                  </a:lnTo>
                  <a:lnTo>
                    <a:pt x="3984642" y="1249247"/>
                  </a:lnTo>
                  <a:lnTo>
                    <a:pt x="3992528" y="1242808"/>
                  </a:lnTo>
                  <a:lnTo>
                    <a:pt x="3999279" y="1235188"/>
                  </a:lnTo>
                  <a:lnTo>
                    <a:pt x="4004721" y="1226583"/>
                  </a:lnTo>
                  <a:lnTo>
                    <a:pt x="4008711" y="1217216"/>
                  </a:lnTo>
                  <a:lnTo>
                    <a:pt x="4011148" y="1207331"/>
                  </a:lnTo>
                  <a:lnTo>
                    <a:pt x="4011967" y="1197183"/>
                  </a:lnTo>
                  <a:lnTo>
                    <a:pt x="4011967" y="63262"/>
                  </a:lnTo>
                  <a:lnTo>
                    <a:pt x="4011148" y="53114"/>
                  </a:lnTo>
                  <a:lnTo>
                    <a:pt x="4008711" y="43229"/>
                  </a:lnTo>
                  <a:lnTo>
                    <a:pt x="4004721" y="33863"/>
                  </a:lnTo>
                  <a:lnTo>
                    <a:pt x="3999279" y="25258"/>
                  </a:lnTo>
                  <a:lnTo>
                    <a:pt x="3992528" y="17637"/>
                  </a:lnTo>
                  <a:lnTo>
                    <a:pt x="3984642" y="11198"/>
                  </a:lnTo>
                  <a:lnTo>
                    <a:pt x="3975824" y="6107"/>
                  </a:lnTo>
                  <a:lnTo>
                    <a:pt x="3966305" y="2497"/>
                  </a:lnTo>
                  <a:lnTo>
                    <a:pt x="3956330" y="461"/>
                  </a:lnTo>
                  <a:lnTo>
                    <a:pt x="3948704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1197183"/>
                  </a:lnTo>
                  <a:lnTo>
                    <a:pt x="205" y="1192093"/>
                  </a:lnTo>
                  <a:lnTo>
                    <a:pt x="205" y="1202274"/>
                  </a:lnTo>
                  <a:lnTo>
                    <a:pt x="1838" y="1212323"/>
                  </a:lnTo>
                  <a:lnTo>
                    <a:pt x="5062" y="1221980"/>
                  </a:lnTo>
                  <a:lnTo>
                    <a:pt x="9793" y="1230995"/>
                  </a:lnTo>
                  <a:lnTo>
                    <a:pt x="15909" y="1239134"/>
                  </a:lnTo>
                  <a:lnTo>
                    <a:pt x="23252" y="1246187"/>
                  </a:lnTo>
                  <a:lnTo>
                    <a:pt x="31631" y="1251970"/>
                  </a:lnTo>
                  <a:lnTo>
                    <a:pt x="40829" y="1256335"/>
                  </a:lnTo>
                  <a:lnTo>
                    <a:pt x="50608" y="1259167"/>
                  </a:lnTo>
                  <a:lnTo>
                    <a:pt x="60715" y="12603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tx5"/>
            <p:cNvSpPr/>
            <p:nvPr/>
          </p:nvSpPr>
          <p:spPr>
            <a:xfrm>
              <a:off x="1867616" y="469403"/>
              <a:ext cx="149458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Screening : 374 dossiers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1867616" y="652283"/>
              <a:ext cx="129716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Patients &gt;= 18 ans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1867616" y="835163"/>
              <a:ext cx="335575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Diagnostic d’adénocarcinome canalaire pancréatique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867616" y="1018043"/>
              <a:ext cx="250737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Indication chirurgicale retenue en RCP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1867616" y="1200923"/>
              <a:ext cx="357996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Date opératoire programmée entre 01/2022 et 12/2025</a:t>
              </a:r>
            </a:p>
          </p:txBody>
        </p:sp>
        <p:sp>
          <p:nvSpPr>
            <p:cNvPr id="10" name="pg10"/>
            <p:cNvSpPr/>
            <p:nvPr/>
          </p:nvSpPr>
          <p:spPr>
            <a:xfrm>
              <a:off x="3867912" y="1511405"/>
              <a:ext cx="2038052" cy="825283"/>
            </a:xfrm>
            <a:custGeom>
              <a:avLst/>
              <a:pathLst>
                <a:path w="2038052" h="825283">
                  <a:moveTo>
                    <a:pt x="63262" y="825283"/>
                  </a:moveTo>
                  <a:lnTo>
                    <a:pt x="1974789" y="825283"/>
                  </a:lnTo>
                  <a:lnTo>
                    <a:pt x="1972242" y="825232"/>
                  </a:lnTo>
                  <a:lnTo>
                    <a:pt x="1982414" y="824822"/>
                  </a:lnTo>
                  <a:lnTo>
                    <a:pt x="1992390" y="822785"/>
                  </a:lnTo>
                  <a:lnTo>
                    <a:pt x="2001909" y="819175"/>
                  </a:lnTo>
                  <a:lnTo>
                    <a:pt x="2010726" y="814084"/>
                  </a:lnTo>
                  <a:lnTo>
                    <a:pt x="2018613" y="807645"/>
                  </a:lnTo>
                  <a:lnTo>
                    <a:pt x="2025364" y="800025"/>
                  </a:lnTo>
                  <a:lnTo>
                    <a:pt x="2030805" y="791420"/>
                  </a:lnTo>
                  <a:lnTo>
                    <a:pt x="2034796" y="782053"/>
                  </a:lnTo>
                  <a:lnTo>
                    <a:pt x="2037232" y="772168"/>
                  </a:lnTo>
                  <a:lnTo>
                    <a:pt x="2038052" y="762020"/>
                  </a:lnTo>
                  <a:lnTo>
                    <a:pt x="2038052" y="63262"/>
                  </a:lnTo>
                  <a:lnTo>
                    <a:pt x="2037232" y="53114"/>
                  </a:lnTo>
                  <a:lnTo>
                    <a:pt x="2034796" y="43229"/>
                  </a:lnTo>
                  <a:lnTo>
                    <a:pt x="2030805" y="33863"/>
                  </a:lnTo>
                  <a:lnTo>
                    <a:pt x="2025364" y="25258"/>
                  </a:lnTo>
                  <a:lnTo>
                    <a:pt x="2018613" y="17637"/>
                  </a:lnTo>
                  <a:lnTo>
                    <a:pt x="2010726" y="11198"/>
                  </a:lnTo>
                  <a:lnTo>
                    <a:pt x="2001909" y="6107"/>
                  </a:lnTo>
                  <a:lnTo>
                    <a:pt x="1992390" y="2497"/>
                  </a:lnTo>
                  <a:lnTo>
                    <a:pt x="1982414" y="461"/>
                  </a:lnTo>
                  <a:lnTo>
                    <a:pt x="1974789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762020"/>
                  </a:lnTo>
                  <a:lnTo>
                    <a:pt x="205" y="756930"/>
                  </a:lnTo>
                  <a:lnTo>
                    <a:pt x="205" y="767111"/>
                  </a:lnTo>
                  <a:lnTo>
                    <a:pt x="1838" y="777160"/>
                  </a:lnTo>
                  <a:lnTo>
                    <a:pt x="5062" y="786817"/>
                  </a:lnTo>
                  <a:lnTo>
                    <a:pt x="9793" y="795832"/>
                  </a:lnTo>
                  <a:lnTo>
                    <a:pt x="15909" y="803971"/>
                  </a:lnTo>
                  <a:lnTo>
                    <a:pt x="23252" y="811024"/>
                  </a:lnTo>
                  <a:lnTo>
                    <a:pt x="31631" y="816807"/>
                  </a:lnTo>
                  <a:lnTo>
                    <a:pt x="40829" y="821172"/>
                  </a:lnTo>
                  <a:lnTo>
                    <a:pt x="50608" y="824004"/>
                  </a:lnTo>
                  <a:lnTo>
                    <a:pt x="60715" y="825232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  <a:ln w="11429" cap="rnd">
              <a:solidFill>
                <a:srgbClr val="F2F2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4083911" y="1727405"/>
              <a:ext cx="1339047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Dossiers non évalués : 41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083911" y="1882853"/>
              <a:ext cx="1606052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Patients opérés hors période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4083911" y="2038301"/>
              <a:ext cx="575889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Doublons</a:t>
              </a:r>
            </a:p>
          </p:txBody>
        </p:sp>
        <p:sp>
          <p:nvSpPr>
            <p:cNvPr id="14" name="pg14"/>
            <p:cNvSpPr/>
            <p:nvPr/>
          </p:nvSpPr>
          <p:spPr>
            <a:xfrm>
              <a:off x="2001968" y="2381953"/>
              <a:ext cx="3311262" cy="528926"/>
            </a:xfrm>
            <a:custGeom>
              <a:avLst/>
              <a:pathLst>
                <a:path w="3311262" h="528926">
                  <a:moveTo>
                    <a:pt x="63262" y="528926"/>
                  </a:moveTo>
                  <a:lnTo>
                    <a:pt x="3247999" y="528926"/>
                  </a:lnTo>
                  <a:lnTo>
                    <a:pt x="3245452" y="528875"/>
                  </a:lnTo>
                  <a:lnTo>
                    <a:pt x="3255625" y="528465"/>
                  </a:lnTo>
                  <a:lnTo>
                    <a:pt x="3265600" y="526428"/>
                  </a:lnTo>
                  <a:lnTo>
                    <a:pt x="3275120" y="522818"/>
                  </a:lnTo>
                  <a:lnTo>
                    <a:pt x="3283937" y="517727"/>
                  </a:lnTo>
                  <a:lnTo>
                    <a:pt x="3291823" y="511288"/>
                  </a:lnTo>
                  <a:lnTo>
                    <a:pt x="3298574" y="503668"/>
                  </a:lnTo>
                  <a:lnTo>
                    <a:pt x="3304016" y="495063"/>
                  </a:lnTo>
                  <a:lnTo>
                    <a:pt x="3308006" y="485696"/>
                  </a:lnTo>
                  <a:lnTo>
                    <a:pt x="3310443" y="475811"/>
                  </a:lnTo>
                  <a:lnTo>
                    <a:pt x="3311262" y="465663"/>
                  </a:lnTo>
                  <a:lnTo>
                    <a:pt x="3311262" y="63262"/>
                  </a:lnTo>
                  <a:lnTo>
                    <a:pt x="3310443" y="53114"/>
                  </a:lnTo>
                  <a:lnTo>
                    <a:pt x="3308006" y="43229"/>
                  </a:lnTo>
                  <a:lnTo>
                    <a:pt x="3304016" y="33863"/>
                  </a:lnTo>
                  <a:lnTo>
                    <a:pt x="3298574" y="25258"/>
                  </a:lnTo>
                  <a:lnTo>
                    <a:pt x="3291823" y="17637"/>
                  </a:lnTo>
                  <a:lnTo>
                    <a:pt x="3283937" y="11198"/>
                  </a:lnTo>
                  <a:lnTo>
                    <a:pt x="3275120" y="6107"/>
                  </a:lnTo>
                  <a:lnTo>
                    <a:pt x="3265600" y="2497"/>
                  </a:lnTo>
                  <a:lnTo>
                    <a:pt x="3255625" y="461"/>
                  </a:lnTo>
                  <a:lnTo>
                    <a:pt x="3247999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465663"/>
                  </a:lnTo>
                  <a:lnTo>
                    <a:pt x="205" y="460573"/>
                  </a:lnTo>
                  <a:lnTo>
                    <a:pt x="205" y="470754"/>
                  </a:lnTo>
                  <a:lnTo>
                    <a:pt x="1838" y="480803"/>
                  </a:lnTo>
                  <a:lnTo>
                    <a:pt x="5062" y="490460"/>
                  </a:lnTo>
                  <a:lnTo>
                    <a:pt x="9793" y="499475"/>
                  </a:lnTo>
                  <a:lnTo>
                    <a:pt x="15909" y="507614"/>
                  </a:lnTo>
                  <a:lnTo>
                    <a:pt x="23252" y="514667"/>
                  </a:lnTo>
                  <a:lnTo>
                    <a:pt x="31631" y="520450"/>
                  </a:lnTo>
                  <a:lnTo>
                    <a:pt x="40829" y="524815"/>
                  </a:lnTo>
                  <a:lnTo>
                    <a:pt x="50608" y="527647"/>
                  </a:lnTo>
                  <a:lnTo>
                    <a:pt x="60715" y="528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2217968" y="2597953"/>
              <a:ext cx="287926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Patients évalués pour éligibilité : 333 (100 %)</a:t>
              </a:r>
            </a:p>
          </p:txBody>
        </p:sp>
        <p:sp>
          <p:nvSpPr>
            <p:cNvPr id="16" name="pg16"/>
            <p:cNvSpPr/>
            <p:nvPr/>
          </p:nvSpPr>
          <p:spPr>
            <a:xfrm>
              <a:off x="3867912" y="2925729"/>
              <a:ext cx="3366675" cy="1291627"/>
            </a:xfrm>
            <a:custGeom>
              <a:avLst/>
              <a:pathLst>
                <a:path w="3366675" h="1291627">
                  <a:moveTo>
                    <a:pt x="63262" y="1291627"/>
                  </a:moveTo>
                  <a:lnTo>
                    <a:pt x="3303412" y="1291627"/>
                  </a:lnTo>
                  <a:lnTo>
                    <a:pt x="3300865" y="1291576"/>
                  </a:lnTo>
                  <a:lnTo>
                    <a:pt x="3311038" y="1291166"/>
                  </a:lnTo>
                  <a:lnTo>
                    <a:pt x="3321013" y="1289129"/>
                  </a:lnTo>
                  <a:lnTo>
                    <a:pt x="3330532" y="1285519"/>
                  </a:lnTo>
                  <a:lnTo>
                    <a:pt x="3339349" y="1280428"/>
                  </a:lnTo>
                  <a:lnTo>
                    <a:pt x="3347236" y="1273989"/>
                  </a:lnTo>
                  <a:lnTo>
                    <a:pt x="3353987" y="1266369"/>
                  </a:lnTo>
                  <a:lnTo>
                    <a:pt x="3359428" y="1257764"/>
                  </a:lnTo>
                  <a:lnTo>
                    <a:pt x="3363419" y="1248397"/>
                  </a:lnTo>
                  <a:lnTo>
                    <a:pt x="3365856" y="1238512"/>
                  </a:lnTo>
                  <a:lnTo>
                    <a:pt x="3366675" y="1228364"/>
                  </a:lnTo>
                  <a:lnTo>
                    <a:pt x="3366675" y="63262"/>
                  </a:lnTo>
                  <a:lnTo>
                    <a:pt x="3365856" y="53114"/>
                  </a:lnTo>
                  <a:lnTo>
                    <a:pt x="3363419" y="43229"/>
                  </a:lnTo>
                  <a:lnTo>
                    <a:pt x="3359428" y="33863"/>
                  </a:lnTo>
                  <a:lnTo>
                    <a:pt x="3353987" y="25258"/>
                  </a:lnTo>
                  <a:lnTo>
                    <a:pt x="3347236" y="17637"/>
                  </a:lnTo>
                  <a:lnTo>
                    <a:pt x="3339349" y="11198"/>
                  </a:lnTo>
                  <a:lnTo>
                    <a:pt x="3330532" y="6107"/>
                  </a:lnTo>
                  <a:lnTo>
                    <a:pt x="3321013" y="2497"/>
                  </a:lnTo>
                  <a:lnTo>
                    <a:pt x="3311038" y="461"/>
                  </a:lnTo>
                  <a:lnTo>
                    <a:pt x="3303412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1228364"/>
                  </a:lnTo>
                  <a:lnTo>
                    <a:pt x="205" y="1223274"/>
                  </a:lnTo>
                  <a:lnTo>
                    <a:pt x="205" y="1233455"/>
                  </a:lnTo>
                  <a:lnTo>
                    <a:pt x="1838" y="1243504"/>
                  </a:lnTo>
                  <a:lnTo>
                    <a:pt x="5062" y="1253161"/>
                  </a:lnTo>
                  <a:lnTo>
                    <a:pt x="9793" y="1262176"/>
                  </a:lnTo>
                  <a:lnTo>
                    <a:pt x="15909" y="1270315"/>
                  </a:lnTo>
                  <a:lnTo>
                    <a:pt x="23252" y="1277368"/>
                  </a:lnTo>
                  <a:lnTo>
                    <a:pt x="31631" y="1283151"/>
                  </a:lnTo>
                  <a:lnTo>
                    <a:pt x="40829" y="1287516"/>
                  </a:lnTo>
                  <a:lnTo>
                    <a:pt x="50608" y="1290348"/>
                  </a:lnTo>
                  <a:lnTo>
                    <a:pt x="60715" y="1291576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  <a:ln w="11429" cap="rnd">
              <a:solidFill>
                <a:srgbClr val="F2F2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083911" y="3141729"/>
              <a:ext cx="1661099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Patients exclus : 230 (69,1 %)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083911" y="3297177"/>
              <a:ext cx="2387132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Autre diagnostic anatomopathologique : 85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083911" y="3452625"/>
              <a:ext cx="2783433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Lésion non opérable ou d'emblée métastatique : 77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4083911" y="3608073"/>
              <a:ext cx="1456639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Données manquantes : 41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083911" y="3763521"/>
              <a:ext cx="2133112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Autre protocole de chimiothérapie : 16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083911" y="3918969"/>
              <a:ext cx="2934675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Décès précoce post-diagnostic ou post-opératoire : 11</a:t>
              </a:r>
            </a:p>
          </p:txBody>
        </p:sp>
        <p:sp>
          <p:nvSpPr>
            <p:cNvPr id="23" name="pg23"/>
            <p:cNvSpPr/>
            <p:nvPr/>
          </p:nvSpPr>
          <p:spPr>
            <a:xfrm>
              <a:off x="2473067" y="4184499"/>
              <a:ext cx="2369064" cy="1260446"/>
            </a:xfrm>
            <a:custGeom>
              <a:avLst/>
              <a:pathLst>
                <a:path w="2369064" h="1260446">
                  <a:moveTo>
                    <a:pt x="63262" y="1260446"/>
                  </a:moveTo>
                  <a:lnTo>
                    <a:pt x="2305802" y="1260446"/>
                  </a:lnTo>
                  <a:lnTo>
                    <a:pt x="2303254" y="1260395"/>
                  </a:lnTo>
                  <a:lnTo>
                    <a:pt x="2313427" y="1259985"/>
                  </a:lnTo>
                  <a:lnTo>
                    <a:pt x="2323403" y="1257948"/>
                  </a:lnTo>
                  <a:lnTo>
                    <a:pt x="2332922" y="1254338"/>
                  </a:lnTo>
                  <a:lnTo>
                    <a:pt x="2341739" y="1249247"/>
                  </a:lnTo>
                  <a:lnTo>
                    <a:pt x="2349625" y="1242808"/>
                  </a:lnTo>
                  <a:lnTo>
                    <a:pt x="2356377" y="1235188"/>
                  </a:lnTo>
                  <a:lnTo>
                    <a:pt x="2361818" y="1226583"/>
                  </a:lnTo>
                  <a:lnTo>
                    <a:pt x="2365809" y="1217216"/>
                  </a:lnTo>
                  <a:lnTo>
                    <a:pt x="2368245" y="1207331"/>
                  </a:lnTo>
                  <a:lnTo>
                    <a:pt x="2369064" y="1197183"/>
                  </a:lnTo>
                  <a:lnTo>
                    <a:pt x="2369064" y="63262"/>
                  </a:lnTo>
                  <a:lnTo>
                    <a:pt x="2368245" y="53114"/>
                  </a:lnTo>
                  <a:lnTo>
                    <a:pt x="2365809" y="43229"/>
                  </a:lnTo>
                  <a:lnTo>
                    <a:pt x="2361818" y="33863"/>
                  </a:lnTo>
                  <a:lnTo>
                    <a:pt x="2356377" y="25258"/>
                  </a:lnTo>
                  <a:lnTo>
                    <a:pt x="2349625" y="17637"/>
                  </a:lnTo>
                  <a:lnTo>
                    <a:pt x="2341739" y="11198"/>
                  </a:lnTo>
                  <a:lnTo>
                    <a:pt x="2332922" y="6107"/>
                  </a:lnTo>
                  <a:lnTo>
                    <a:pt x="2323403" y="2497"/>
                  </a:lnTo>
                  <a:lnTo>
                    <a:pt x="2313427" y="461"/>
                  </a:lnTo>
                  <a:lnTo>
                    <a:pt x="2305802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1197183"/>
                  </a:lnTo>
                  <a:lnTo>
                    <a:pt x="205" y="1192093"/>
                  </a:lnTo>
                  <a:lnTo>
                    <a:pt x="205" y="1202274"/>
                  </a:lnTo>
                  <a:lnTo>
                    <a:pt x="1838" y="1212323"/>
                  </a:lnTo>
                  <a:lnTo>
                    <a:pt x="5062" y="1221980"/>
                  </a:lnTo>
                  <a:lnTo>
                    <a:pt x="9793" y="1230995"/>
                  </a:lnTo>
                  <a:lnTo>
                    <a:pt x="15909" y="1239134"/>
                  </a:lnTo>
                  <a:lnTo>
                    <a:pt x="23252" y="1246187"/>
                  </a:lnTo>
                  <a:lnTo>
                    <a:pt x="31631" y="1251970"/>
                  </a:lnTo>
                  <a:lnTo>
                    <a:pt x="40829" y="1256335"/>
                  </a:lnTo>
                  <a:lnTo>
                    <a:pt x="50608" y="1259167"/>
                  </a:lnTo>
                  <a:lnTo>
                    <a:pt x="60715" y="12603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2689067" y="4400499"/>
              <a:ext cx="1937064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Patients inclus : 103 (30,9 %)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689067" y="4583379"/>
              <a:ext cx="1124894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Angers : 36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689067" y="4766259"/>
              <a:ext cx="112946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Nantes : 25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689067" y="4949139"/>
              <a:ext cx="17854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CHD La Roche-sur-Yon : 25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689067" y="5132019"/>
              <a:ext cx="96816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Lyon : 17</a:t>
              </a:r>
            </a:p>
          </p:txBody>
        </p:sp>
        <p:sp>
          <p:nvSpPr>
            <p:cNvPr id="29" name="pg29"/>
            <p:cNvSpPr/>
            <p:nvPr/>
          </p:nvSpPr>
          <p:spPr>
            <a:xfrm>
              <a:off x="1089854" y="5686056"/>
              <a:ext cx="2392290" cy="894686"/>
            </a:xfrm>
            <a:custGeom>
              <a:avLst/>
              <a:pathLst>
                <a:path w="2392290" h="894686">
                  <a:moveTo>
                    <a:pt x="63262" y="894686"/>
                  </a:moveTo>
                  <a:lnTo>
                    <a:pt x="2329027" y="894686"/>
                  </a:lnTo>
                  <a:lnTo>
                    <a:pt x="2326480" y="894635"/>
                  </a:lnTo>
                  <a:lnTo>
                    <a:pt x="2336653" y="894225"/>
                  </a:lnTo>
                  <a:lnTo>
                    <a:pt x="2346628" y="892188"/>
                  </a:lnTo>
                  <a:lnTo>
                    <a:pt x="2356148" y="888578"/>
                  </a:lnTo>
                  <a:lnTo>
                    <a:pt x="2364965" y="883487"/>
                  </a:lnTo>
                  <a:lnTo>
                    <a:pt x="2372851" y="877048"/>
                  </a:lnTo>
                  <a:lnTo>
                    <a:pt x="2379602" y="869428"/>
                  </a:lnTo>
                  <a:lnTo>
                    <a:pt x="2385044" y="860823"/>
                  </a:lnTo>
                  <a:lnTo>
                    <a:pt x="2389034" y="851456"/>
                  </a:lnTo>
                  <a:lnTo>
                    <a:pt x="2391471" y="841571"/>
                  </a:lnTo>
                  <a:lnTo>
                    <a:pt x="2392290" y="831423"/>
                  </a:lnTo>
                  <a:lnTo>
                    <a:pt x="2392290" y="63262"/>
                  </a:lnTo>
                  <a:lnTo>
                    <a:pt x="2391471" y="53114"/>
                  </a:lnTo>
                  <a:lnTo>
                    <a:pt x="2389034" y="43229"/>
                  </a:lnTo>
                  <a:lnTo>
                    <a:pt x="2385044" y="33863"/>
                  </a:lnTo>
                  <a:lnTo>
                    <a:pt x="2379602" y="25258"/>
                  </a:lnTo>
                  <a:lnTo>
                    <a:pt x="2372851" y="17637"/>
                  </a:lnTo>
                  <a:lnTo>
                    <a:pt x="2364965" y="11198"/>
                  </a:lnTo>
                  <a:lnTo>
                    <a:pt x="2356148" y="6107"/>
                  </a:lnTo>
                  <a:lnTo>
                    <a:pt x="2346628" y="2497"/>
                  </a:lnTo>
                  <a:lnTo>
                    <a:pt x="2336653" y="461"/>
                  </a:lnTo>
                  <a:lnTo>
                    <a:pt x="2329027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831423"/>
                  </a:lnTo>
                  <a:lnTo>
                    <a:pt x="205" y="826333"/>
                  </a:lnTo>
                  <a:lnTo>
                    <a:pt x="205" y="836514"/>
                  </a:lnTo>
                  <a:lnTo>
                    <a:pt x="1838" y="846563"/>
                  </a:lnTo>
                  <a:lnTo>
                    <a:pt x="5062" y="856220"/>
                  </a:lnTo>
                  <a:lnTo>
                    <a:pt x="9793" y="865235"/>
                  </a:lnTo>
                  <a:lnTo>
                    <a:pt x="15909" y="873374"/>
                  </a:lnTo>
                  <a:lnTo>
                    <a:pt x="23252" y="880427"/>
                  </a:lnTo>
                  <a:lnTo>
                    <a:pt x="31631" y="886210"/>
                  </a:lnTo>
                  <a:lnTo>
                    <a:pt x="40829" y="890575"/>
                  </a:lnTo>
                  <a:lnTo>
                    <a:pt x="50608" y="893407"/>
                  </a:lnTo>
                  <a:lnTo>
                    <a:pt x="60715" y="8946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305854" y="5902056"/>
              <a:ext cx="1960290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Chimiothérapie adjuvante seule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80991" y="6084936"/>
              <a:ext cx="41001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n = 53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653052" y="6267816"/>
              <a:ext cx="1265895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(51,5 % des inclus)</a:t>
              </a:r>
            </a:p>
          </p:txBody>
        </p:sp>
        <p:sp>
          <p:nvSpPr>
            <p:cNvPr id="33" name="pg33"/>
            <p:cNvSpPr/>
            <p:nvPr/>
          </p:nvSpPr>
          <p:spPr>
            <a:xfrm>
              <a:off x="3852257" y="5686056"/>
              <a:ext cx="2353885" cy="894686"/>
            </a:xfrm>
            <a:custGeom>
              <a:avLst/>
              <a:pathLst>
                <a:path w="2353885" h="894686">
                  <a:moveTo>
                    <a:pt x="63262" y="894686"/>
                  </a:moveTo>
                  <a:lnTo>
                    <a:pt x="2290623" y="894686"/>
                  </a:lnTo>
                  <a:lnTo>
                    <a:pt x="2288075" y="894635"/>
                  </a:lnTo>
                  <a:lnTo>
                    <a:pt x="2298248" y="894225"/>
                  </a:lnTo>
                  <a:lnTo>
                    <a:pt x="2308223" y="892188"/>
                  </a:lnTo>
                  <a:lnTo>
                    <a:pt x="2317743" y="888578"/>
                  </a:lnTo>
                  <a:lnTo>
                    <a:pt x="2326560" y="883487"/>
                  </a:lnTo>
                  <a:lnTo>
                    <a:pt x="2334446" y="877048"/>
                  </a:lnTo>
                  <a:lnTo>
                    <a:pt x="2341198" y="869428"/>
                  </a:lnTo>
                  <a:lnTo>
                    <a:pt x="2346639" y="860823"/>
                  </a:lnTo>
                  <a:lnTo>
                    <a:pt x="2350630" y="851456"/>
                  </a:lnTo>
                  <a:lnTo>
                    <a:pt x="2353066" y="841571"/>
                  </a:lnTo>
                  <a:lnTo>
                    <a:pt x="2353885" y="831423"/>
                  </a:lnTo>
                  <a:lnTo>
                    <a:pt x="2353885" y="63262"/>
                  </a:lnTo>
                  <a:lnTo>
                    <a:pt x="2353066" y="53114"/>
                  </a:lnTo>
                  <a:lnTo>
                    <a:pt x="2350630" y="43229"/>
                  </a:lnTo>
                  <a:lnTo>
                    <a:pt x="2346639" y="33863"/>
                  </a:lnTo>
                  <a:lnTo>
                    <a:pt x="2341198" y="25258"/>
                  </a:lnTo>
                  <a:lnTo>
                    <a:pt x="2334446" y="17637"/>
                  </a:lnTo>
                  <a:lnTo>
                    <a:pt x="2326560" y="11198"/>
                  </a:lnTo>
                  <a:lnTo>
                    <a:pt x="2317743" y="6107"/>
                  </a:lnTo>
                  <a:lnTo>
                    <a:pt x="2308223" y="2497"/>
                  </a:lnTo>
                  <a:lnTo>
                    <a:pt x="2298248" y="461"/>
                  </a:lnTo>
                  <a:lnTo>
                    <a:pt x="2290623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831423"/>
                  </a:lnTo>
                  <a:lnTo>
                    <a:pt x="205" y="826333"/>
                  </a:lnTo>
                  <a:lnTo>
                    <a:pt x="205" y="836514"/>
                  </a:lnTo>
                  <a:lnTo>
                    <a:pt x="1838" y="846563"/>
                  </a:lnTo>
                  <a:lnTo>
                    <a:pt x="5062" y="856220"/>
                  </a:lnTo>
                  <a:lnTo>
                    <a:pt x="9793" y="865235"/>
                  </a:lnTo>
                  <a:lnTo>
                    <a:pt x="15909" y="873374"/>
                  </a:lnTo>
                  <a:lnTo>
                    <a:pt x="23252" y="880427"/>
                  </a:lnTo>
                  <a:lnTo>
                    <a:pt x="31631" y="886210"/>
                  </a:lnTo>
                  <a:lnTo>
                    <a:pt x="40829" y="890575"/>
                  </a:lnTo>
                  <a:lnTo>
                    <a:pt x="50608" y="893407"/>
                  </a:lnTo>
                  <a:lnTo>
                    <a:pt x="60715" y="8946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4068257" y="5902056"/>
              <a:ext cx="1921885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Chimiothérapie péri-opératoire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816419" y="6084936"/>
              <a:ext cx="425561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n = 50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384410" y="6267816"/>
              <a:ext cx="128957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(48,5 % des inclus)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3657600" y="1513849"/>
              <a:ext cx="210312" cy="410197"/>
            </a:xfrm>
            <a:custGeom>
              <a:avLst/>
              <a:pathLst>
                <a:path w="210312" h="410197">
                  <a:moveTo>
                    <a:pt x="0" y="0"/>
                  </a:moveTo>
                  <a:lnTo>
                    <a:pt x="0" y="410197"/>
                  </a:lnTo>
                  <a:lnTo>
                    <a:pt x="210312" y="410197"/>
                  </a:lnTo>
                </a:path>
              </a:pathLst>
            </a:custGeom>
            <a:ln w="23812" cap="rnd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867912" y="192404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3812" cap="rnd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7600" y="1513849"/>
              <a:ext cx="0" cy="868103"/>
            </a:xfrm>
            <a:custGeom>
              <a:avLst/>
              <a:pathLst>
                <a:path w="0" h="868103">
                  <a:moveTo>
                    <a:pt x="0" y="0"/>
                  </a:moveTo>
                  <a:lnTo>
                    <a:pt x="0" y="868103"/>
                  </a:lnTo>
                </a:path>
              </a:pathLst>
            </a:custGeom>
            <a:ln w="14287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7600" y="23819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657600" y="2910879"/>
              <a:ext cx="210312" cy="660663"/>
            </a:xfrm>
            <a:custGeom>
              <a:avLst/>
              <a:pathLst>
                <a:path w="210312" h="660663">
                  <a:moveTo>
                    <a:pt x="0" y="0"/>
                  </a:moveTo>
                  <a:lnTo>
                    <a:pt x="0" y="660663"/>
                  </a:lnTo>
                  <a:lnTo>
                    <a:pt x="210312" y="660663"/>
                  </a:lnTo>
                </a:path>
              </a:pathLst>
            </a:custGeom>
            <a:ln w="23812" cap="rnd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867912" y="35715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3812" cap="rnd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657600" y="2910879"/>
              <a:ext cx="0" cy="1273619"/>
            </a:xfrm>
            <a:custGeom>
              <a:avLst/>
              <a:pathLst>
                <a:path w="0" h="1273619">
                  <a:moveTo>
                    <a:pt x="0" y="0"/>
                  </a:moveTo>
                  <a:lnTo>
                    <a:pt x="0" y="1273619"/>
                  </a:lnTo>
                </a:path>
              </a:pathLst>
            </a:custGeom>
            <a:ln w="14287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657600" y="41844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286000" y="5444945"/>
              <a:ext cx="1371600" cy="241110"/>
            </a:xfrm>
            <a:custGeom>
              <a:avLst/>
              <a:pathLst>
                <a:path w="1371600" h="241110">
                  <a:moveTo>
                    <a:pt x="1371600" y="0"/>
                  </a:moveTo>
                  <a:lnTo>
                    <a:pt x="1371600" y="219456"/>
                  </a:lnTo>
                  <a:lnTo>
                    <a:pt x="0" y="219456"/>
                  </a:lnTo>
                  <a:lnTo>
                    <a:pt x="0" y="24111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286000" y="56860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657600" y="5444945"/>
              <a:ext cx="1371600" cy="241110"/>
            </a:xfrm>
            <a:custGeom>
              <a:avLst/>
              <a:pathLst>
                <a:path w="1371600" h="241110">
                  <a:moveTo>
                    <a:pt x="0" y="0"/>
                  </a:moveTo>
                  <a:lnTo>
                    <a:pt x="0" y="219456"/>
                  </a:lnTo>
                  <a:lnTo>
                    <a:pt x="1371600" y="219456"/>
                  </a:lnTo>
                  <a:lnTo>
                    <a:pt x="1371600" y="24111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029200" y="56860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julien</cp:lastModifiedBy>
  <cp:revision>3</cp:revision>
  <dcterms:created xsi:type="dcterms:W3CDTF">2017-02-13T16:18:36Z</dcterms:created>
  <dcterms:modified xsi:type="dcterms:W3CDTF">2026-09-10T23:13:52Z</dcterms:modified>
  <cp:category/>
</cp:coreProperties>
</file>